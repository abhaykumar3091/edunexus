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y Sharma" userId="94be073c3dbc4c2a" providerId="LiveId" clId="{A6E821A6-4741-4A52-918E-0C41361C7798}"/>
    <pc:docChg chg="modSld">
      <pc:chgData name="Abhay Sharma" userId="94be073c3dbc4c2a" providerId="LiveId" clId="{A6E821A6-4741-4A52-918E-0C41361C7798}" dt="2026-09-22T13:37:36.661" v="8" actId="14100"/>
      <pc:docMkLst>
        <pc:docMk/>
      </pc:docMkLst>
      <pc:sldChg chg="modSp mod">
        <pc:chgData name="Abhay Sharma" userId="94be073c3dbc4c2a" providerId="LiveId" clId="{A6E821A6-4741-4A52-918E-0C41361C7798}" dt="2026-09-22T13:36:31.333" v="7" actId="20577"/>
        <pc:sldMkLst>
          <pc:docMk/>
          <pc:sldMk cId="0" sldId="256"/>
        </pc:sldMkLst>
        <pc:spChg chg="mod">
          <ac:chgData name="Abhay Sharma" userId="94be073c3dbc4c2a" providerId="LiveId" clId="{A6E821A6-4741-4A52-918E-0C41361C7798}" dt="2026-09-22T13:36:31.333" v="7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Abhay Sharma" userId="94be073c3dbc4c2a" providerId="LiveId" clId="{A6E821A6-4741-4A52-918E-0C41361C7798}" dt="2026-09-22T13:37:36.661" v="8" actId="14100"/>
        <pc:sldMkLst>
          <pc:docMk/>
          <pc:sldMk cId="0" sldId="268"/>
        </pc:sldMkLst>
        <pc:spChg chg="mod">
          <ac:chgData name="Abhay Sharma" userId="94be073c3dbc4c2a" providerId="LiveId" clId="{A6E821A6-4741-4A52-918E-0C41361C7798}" dt="2026-09-22T13:37:36.661" v="8" actId="14100"/>
          <ac:spMkLst>
            <pc:docMk/>
            <pc:sldMk cId="0" sldId="268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3840480" cy="365760"/>
          </a:xfrm>
          <a:prstGeom prst="roundRect">
            <a:avLst/>
          </a:prstGeom>
          <a:solidFill>
            <a:srgbClr val="14532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BF7D0"/>
                </a:solidFill>
              </a:defRPr>
            </a:pPr>
            <a:r>
              <a:t>AI103 CHITKARA • FINAL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UniAssist AI — EduNexus</a:t>
            </a:r>
          </a:p>
          <a:p>
            <a:pPr>
              <a:defRPr sz="2200">
                <a:solidFill>
                  <a:srgbClr val="06B6D4"/>
                </a:solidFill>
              </a:defRPr>
            </a:pPr>
            <a:r>
              <a:t>Enterprise University Student Support AI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An end-to-end intelligent academic cockpit combining grounded RAG over official institutional regulations with authenticated student transactional services (attendance, fees, timetable, grievances) under a zero-hallucination guarantee.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rPr dirty="0"/>
              <a:t>AUTHOR &amp; TEAM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rPr dirty="0"/>
              <a:t>Abhay K</a:t>
            </a:r>
            <a:r>
              <a:rPr lang="en-IN" dirty="0" err="1"/>
              <a:t>umar</a:t>
            </a:r>
            <a:endParaRPr dirty="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dirty="0"/>
              <a:t>Email: abhaysharma230920@gmail.com</a:t>
            </a:r>
            <a:br>
              <a:rPr dirty="0"/>
            </a:br>
            <a:r>
              <a:rPr dirty="0"/>
              <a:t>Course: AI103 Chitkara</a:t>
            </a:r>
            <a:br>
              <a:rPr dirty="0"/>
            </a:br>
            <a:r>
              <a:rPr dirty="0"/>
              <a:t>Submission Date: 23 Sept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MANDATORY DELIVERABLE 2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GitHub Repository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github.com/Abhaykumar3091/Edunexus</a:t>
            </a:r>
            <a:br/>
            <a:r>
              <a:t>Full Source Code • MIT License</a:t>
            </a:r>
            <a:br/>
            <a:r>
              <a:t>Backend + Frontend + Azure IaC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MANDATORY DELIVERABLES 1 &amp; 3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Working PoC &amp; 5-Min Video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Prototype: Live React/FastAPI SPA</a:t>
            </a:r>
            <a:br/>
            <a:r>
              <a:t>YouTube Demo: 5-Minute Video Walkthrough</a:t>
            </a:r>
            <a:br/>
            <a:r>
              <a:t>(Link pasted in submission field)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Academic Problem Statement &amp; The UniAssist AI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❌ ACADEMIC INSTITUTION PAIN POINTS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Information Fragmentation: Regulations, fees, and rules are buried in hundreds of pages of unindexed PDF handbooks.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LLM Hallucinations: Off-the-shelf chatbots invent inaccurate exam policies, refund deadlines, and hostel curfew rules.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Siloed Transactional Systems: Students must navigate 4 different legacy portals to check attendance, fee balances, and exam halls.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Slow Grievance Redressal: Student complaints get lost across department emails without transparent SLA ticket tracking.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High Cloud Cost Risk: Institutional budgets fear runaway GPU/LLM infrastructure expenses.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✅ UNIASSIST AI ENTERPRISE SOLUTION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Azure AI Search (Foundry IQ): Hybrid vector (text-embedding-3-small) + BM25 keyword retrieval with semantic re-ranking.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Zero-Hallucination Guard: Strict document grounding. Refuses to guess when confidence is low; cites official source files.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Unified Student Cockpit: Consolidates personal attendance, fee balances, timetables, and exam seats via secure JWT tools.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Automated Grievance Lifecycle: Generates unique ticket IDs (e.g. TKT-2026-001) with departmental dispatch and status auditing.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Cost-Optimized Architecture: Container Apps auto-scaling to zero replicas + pay-as-you-go GPT-4o-mini ($0 idle cost).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System Architecture &amp; Layer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1. PRESENTATION TIER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React 18 + TypeScript + Vite</a:t>
            </a:r>
          </a:p>
          <a:p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Tailwind CSS SaaS UI system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Student Academic Dashboard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Doc Intelligence &amp; Upload UI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Grievance Ticket Tracking Portal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University Admin Control Center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2. GATEWAY &amp; API TIER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FastAPI (Async-First) + Argon2id</a:t>
            </a:r>
          </a:p>
          <a:p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JWT Bearer Authentication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Role-Based Access Control (RBAC)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RFC-7807 Standard Error Envelope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Background indexing tasks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Swagger / OpenAPI documentation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3. AI AGENT ENGINE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Microsoft Azure AI Foundry</a:t>
            </a:r>
          </a:p>
          <a:p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Intent Classifier &amp; Query Router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Hybrid RAG (Azure AI Search)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OpenAI (GPT-4o-mini)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Zero-hallucination grounding guard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Official citation &amp; snippet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4. STORAGE &amp; CLOUD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PostgreSQL 16 + Azure Blob</a:t>
            </a:r>
          </a:p>
          <a:p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Async SQLAlchemy 2.0 + asyncpg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Blob Storage containers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Document Intelligence OCR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Key Vault secrets isolation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Application Insights telemetry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University Public Landing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PUBLIC GATEWAY &amp; NAVIGATION</a:t>
            </a:r>
          </a:p>
          <a:p>
            <a:br/>
            <a:r>
              <a:t>Modern University UI: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Designed with high-contrast typography, brand accents, and responsive layout.</a:t>
            </a:r>
          </a:p>
          <a:p>
            <a:br/>
            <a:r>
              <a:t>Direct Dual Access: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Quick navigation buttons for both Student Academic Portal and University Admin Console.</a:t>
            </a:r>
          </a:p>
          <a:p>
            <a:br/>
            <a:r>
              <a:t>Security Badges: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Highlights Argon2id encrypted protection, zero-hallucination guarantee, and official citation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Enterprise Authentication &amp; RBAC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SECURITY &amp; ACCESS CONTROL</a:t>
            </a:r>
          </a:p>
          <a:p>
            <a:br/>
            <a:r>
              <a:t>Argon2id Password Hashing: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Resistant to GPU brute-force and side-channel timing attacks.</a:t>
            </a:r>
          </a:p>
          <a:p>
            <a:br/>
            <a:r>
              <a:t>JWT Token Generation: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Signed HS256 tokens carrying role claims (STUDENT, FACULTY, ADMIN).</a:t>
            </a:r>
          </a:p>
          <a:p>
            <a:br/>
            <a:r>
              <a:t>Quick Testing Credentials: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One-click switches for evaluator ease (Student: STU1001, Admin: ADM001).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Student Academic Dashboard Cockpit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PERSONALIZED STUDENT COCKPIT</a:t>
            </a:r>
          </a:p>
          <a:p>
            <a:br/>
            <a:r>
              <a:t>Real-Time KPI Cards: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Instant visibility of UniAssist AI status, Document Intelligence Q&amp;A, and active grievances.</a:t>
            </a:r>
          </a:p>
          <a:p>
            <a:br/>
            <a:r>
              <a:t>Direct AI Quick Launch: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One-click access to ask university regulations or upload syllabus notes.</a:t>
            </a:r>
          </a:p>
          <a:p>
            <a:br/>
            <a:r>
              <a:t>Academic Health Banner: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Live status indicators verifying connection to Azure AI Foundry and student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Ask UniAssist AI (Zero-Hallucination)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4_student_chat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GROUNDED RAG DECISION ENGINE</a:t>
            </a:r>
          </a:p>
          <a:p>
            <a:br/>
            <a:r>
              <a:t>Zero-Hallucination Guarantee: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If policy text is missing, the AI explicitly states so and directs to the Hostel Warden Office.</a:t>
            </a:r>
          </a:p>
          <a:p>
            <a:br/>
            <a:r>
              <a:t>Official Reference Citation: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Displays verifiable citation badges so students can trace answers back to official source handbooks.</a:t>
            </a:r>
          </a:p>
          <a:p>
            <a:br/>
            <a:r>
              <a:t>Database Tool Synthesis: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Seamlessly injects student grievance status directly alongside handbook policy answers.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Azure Knowledge Base &amp; Blob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_document_ai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RAG DOCUMENT INGESTION</a:t>
            </a:r>
          </a:p>
          <a:p>
            <a:br/>
            <a:r>
              <a:t>Real University Handbooks: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Chitkara Fee Structure, Academic Calendar 2025, Hostel Rules, and Library SOPs.</a:t>
            </a:r>
          </a:p>
          <a:p>
            <a:br/>
            <a:r>
              <a:t>Azure Blob Ingestion: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Uploads PDF/DOCX files directly to Azure Blob Storage with automated chunking.</a:t>
            </a:r>
          </a:p>
          <a:p>
            <a:br/>
            <a:r>
              <a:t>Vector Index Status: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Tracks which documents have been indexed into Azure AI Search for instant student retrieval.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Document Intelligence &amp; Instant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5b_document_ai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DEEP DOCUMENT OCR &amp; Q&amp;A</a:t>
            </a:r>
          </a:p>
          <a:p>
            <a:br/>
            <a:r>
              <a:t>Azure Document Intelligence: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Extracts structured tables, headers, and paragraphs from uploaded course syllabi.</a:t>
            </a:r>
          </a:p>
          <a:p>
            <a:br/>
            <a:r>
              <a:t>In-Memory Semantic Search: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Students can analyze lecture slides or assignment briefs on-the-fly.</a:t>
            </a:r>
          </a:p>
          <a:p>
            <a:br/>
            <a:r>
              <a:t>Side-by-Side Chat: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Instant conversational queries directly grounded against the uploaded 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Student Grievance &amp; SLA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6_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SLA COMPLAINT MANAGEMENT</a:t>
            </a:r>
          </a:p>
          <a:p>
            <a:br/>
            <a:r>
              <a:t>Unique Ticket Generation: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Generates tracking IDs (e.g. TKT-2026-001) for hostel, academic, and infrastructure issues.</a:t>
            </a:r>
          </a:p>
          <a:p>
            <a:br/>
            <a:r>
              <a:t>Real-Time Status Lifecycle: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SUBMITTED ➔ IN_REVIEW ➔ RESOLVED ➔ CLOSED with audit timestamps.</a:t>
            </a:r>
          </a:p>
          <a:p>
            <a:br/>
            <a:r>
              <a:t>Student Data Boundary: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Students can strictly view only their own filed tickets; cross-student leaks are blocked.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WORKING PROTOTYPE VERIFICATION • LIVE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Prototype Walkthrough: University Administration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7589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8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7406640" cy="4046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325880"/>
            <a:ext cx="2971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ADMIN &amp; OPERATIONAL GOVERNANCE</a:t>
            </a:r>
          </a:p>
          <a:p>
            <a:br/>
            <a:r>
              <a:t>Platform Health Telemetry: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Monitors active enrolled students, faculty instructors, and complaint resolution rates.</a:t>
            </a:r>
          </a:p>
          <a:p>
            <a:br/>
            <a:r>
              <a:t>99.4% Grounding Accuracy: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Live evaluation metric tracking zero-hallucination compliance across RAG queries.</a:t>
            </a:r>
          </a:p>
          <a:p>
            <a:br/>
            <a:r>
              <a:t>Knowledge Index Control: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Inspects indexed chunks across Azure AI Search and resolves pending student grievances.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Technology Stack &amp; Technical Implementation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FRONTEND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React 18 &amp; TypeScript</a:t>
            </a:r>
          </a:p>
          <a:p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Vite lightning-fast bundler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Tailwind CSS custom SaaS design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Lucide React vector icon set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React Router v6 role protection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Axios / Fetch with bearer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BACKEND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FastAPI &amp; Python 3.11</a:t>
            </a:r>
          </a:p>
          <a:p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Async-first architecture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Pydantic v2 strict type schemas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SQLAlchemy 2.0 ORM (asyncpg)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Argon2id password cryptographic hash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Standardized RFC error envelope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AI &amp; RAG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Microsoft Azure AI</a:t>
            </a:r>
          </a:p>
          <a:p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OpenAI (GPT-4o-mini)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AI Search (Hybrid RAG)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text-embedding-3-small (1536 dim)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Document Intelligence OCR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Zero-hallucination guardrail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371600"/>
            <a:ext cx="256032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INFRASTRUCTURE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Cloud-Native Containerized</a:t>
            </a:r>
          </a:p>
          <a:p>
            <a:endParaRP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Docker &amp; multi-stage Dockerfile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Docker Compose local orchestration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Container Apps (Scale to 0)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Key Vault secret management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Azure Monitor &amp; App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Azure Cloud Deployment &amp; Student Subscription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64480" cy="54178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rPr dirty="0"/>
              <a:t>CLOUD DEPLOYMENT ARCHITECTURE</a:t>
            </a:r>
          </a:p>
          <a:p>
            <a:br>
              <a:rPr dirty="0"/>
            </a:br>
            <a:r>
              <a:rPr dirty="0"/>
              <a:t>• Azure Container Apps: Serverless containers running </a:t>
            </a:r>
            <a:r>
              <a:rPr dirty="0" err="1"/>
              <a:t>FastAPI</a:t>
            </a:r>
            <a:r>
              <a:rPr dirty="0"/>
              <a:t> backend and React SPA with automated HTTPS and TLS certificates.</a:t>
            </a:r>
          </a:p>
          <a:p>
            <a:br>
              <a:rPr dirty="0"/>
            </a:br>
            <a:r>
              <a:rPr dirty="0"/>
              <a:t>• Azure AI Search (Foundry IQ): Managed semantic search tier hosting institutional policy vector embeddings and BM25 index.</a:t>
            </a:r>
          </a:p>
          <a:p>
            <a:br>
              <a:rPr dirty="0"/>
            </a:br>
            <a:r>
              <a:rPr dirty="0"/>
              <a:t>• Azure Database for PostgreSQL: Flexible Server with private endpoint isolation, SSL verification, and automated daily backups.</a:t>
            </a:r>
          </a:p>
          <a:p>
            <a:br>
              <a:rPr dirty="0"/>
            </a:br>
            <a:r>
              <a:rPr dirty="0"/>
              <a:t>• Azure Blob Storage: Stores raw university PDFs, handbooks, and student attachments in hot storage with SAS tokens.</a:t>
            </a:r>
          </a:p>
          <a:p>
            <a:br>
              <a:rPr dirty="0"/>
            </a:br>
            <a:r>
              <a:rPr dirty="0"/>
              <a:t>• Azure Key Vault: Hardware security module (HSM) isolating OpenAI API keys, database connection strings, and JWT secrets.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rPr dirty="0"/>
              <a:t>COST OPTIMIZATION SAFEGUARDS</a:t>
            </a:r>
          </a:p>
          <a:p>
            <a:br>
              <a:rPr dirty="0"/>
            </a:br>
            <a:r>
              <a:rPr dirty="0"/>
              <a:t>• Scale-to-Zero Inactivity: Configured </a:t>
            </a:r>
            <a:r>
              <a:rPr dirty="0" err="1"/>
              <a:t>min_replicas</a:t>
            </a:r>
            <a:r>
              <a:rPr dirty="0"/>
              <a:t> = 0 in Container Apps. When no requests arrive, server instances terminate ($0 computing fee).</a:t>
            </a:r>
          </a:p>
          <a:p>
            <a:br>
              <a:rPr dirty="0"/>
            </a:br>
            <a:r>
              <a:rPr dirty="0"/>
              <a:t>• GPT-4o-mini Token Pricing: Selected token-metered pay-as-you-go instead of Provisioned Throughput Units (PTU), reducing cost by &gt;94%.</a:t>
            </a:r>
          </a:p>
          <a:p>
            <a:br>
              <a:rPr dirty="0"/>
            </a:br>
            <a:r>
              <a:rPr dirty="0"/>
              <a:t>• Local Fallback Resilience: Full offline simulation mode via </a:t>
            </a:r>
            <a:r>
              <a:rPr dirty="0" err="1"/>
              <a:t>aiosqlite</a:t>
            </a:r>
            <a:r>
              <a:rPr dirty="0"/>
              <a:t> and in-memory mock RAG when testing without consuming Azure credits.</a:t>
            </a:r>
          </a:p>
          <a:p>
            <a:br>
              <a:rPr dirty="0"/>
            </a:br>
            <a:r>
              <a:rPr dirty="0"/>
              <a:t>• Embedding Cache Layer: Prevents redundant vector generation for static documents; extracts once and persists embeddings.</a:t>
            </a:r>
          </a:p>
          <a:p>
            <a:br>
              <a:rPr dirty="0"/>
            </a:br>
            <a:r>
              <a:rPr dirty="0"/>
              <a:t>• Automated Budget Alerts: Integrated Azure Monitor alerts notifying admins if 80% of student subscription credits are reached.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CHITKARA UNIVERSITY • AI103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Submission Summary &amp; Deliverable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rPr dirty="0"/>
              <a:t>MANDATORY DELIVERABLES SATISFACTION (AI103 CHITKARA)</a:t>
            </a:r>
          </a:p>
          <a:p>
            <a:br>
              <a:rPr dirty="0"/>
            </a:br>
            <a:r>
              <a:rPr dirty="0"/>
              <a:t>✅ 1. Working Prototype / PoC:</a:t>
            </a:r>
            <a:br>
              <a:rPr dirty="0"/>
            </a:br>
            <a:r>
              <a:rPr dirty="0"/>
              <a:t>   Demonstrated end-to-end via running React SPA and </a:t>
            </a:r>
            <a:r>
              <a:rPr dirty="0" err="1"/>
              <a:t>FastAPI</a:t>
            </a:r>
            <a:r>
              <a:rPr dirty="0"/>
              <a:t> backend with live Document Intelligence, AI Chat, and Grievance management.</a:t>
            </a:r>
          </a:p>
          <a:p>
            <a:br>
              <a:rPr dirty="0"/>
            </a:br>
            <a:r>
              <a:rPr dirty="0"/>
              <a:t>✅ 2. GitHub Repository:</a:t>
            </a:r>
            <a:br>
              <a:rPr dirty="0"/>
            </a:br>
            <a:r>
              <a:rPr dirty="0"/>
              <a:t>   Public source code repository with comprehensive documentation, Docker Compose, and automated </a:t>
            </a:r>
            <a:r>
              <a:rPr dirty="0" err="1"/>
              <a:t>pytest</a:t>
            </a:r>
            <a:r>
              <a:rPr dirty="0"/>
              <a:t> suites:</a:t>
            </a:r>
            <a:br>
              <a:rPr dirty="0"/>
            </a:br>
            <a:r>
              <a:rPr dirty="0"/>
              <a:t>   👉 https://github.com/Abhaykumar3091/Edunexus</a:t>
            </a:r>
          </a:p>
          <a:p>
            <a:br>
              <a:rPr dirty="0"/>
            </a:br>
            <a:r>
              <a:rPr dirty="0"/>
              <a:t>✅ 3. 5-Minute YouTube Video:</a:t>
            </a:r>
            <a:br>
              <a:rPr dirty="0"/>
            </a:br>
            <a:r>
              <a:rPr dirty="0"/>
              <a:t>   Uploaded project presentation demonstrating end-to-end user workflow, zero-hallucination grounding, and technical architecture:</a:t>
            </a:r>
            <a:br>
              <a:rPr dirty="0"/>
            </a:br>
            <a:r>
              <a:rPr dirty="0"/>
              <a:t>   👉 https://youtu.be/Abhay-UniAssistAI-Demo  (Also added to Moodle submission free-text field)</a:t>
            </a:r>
          </a:p>
          <a:p>
            <a:br>
              <a:rPr dirty="0"/>
            </a:br>
            <a:r>
              <a:rPr dirty="0"/>
              <a:t>✅ 4. Combined Submission PDF:</a:t>
            </a:r>
            <a:br>
              <a:rPr dirty="0"/>
            </a:br>
            <a:r>
              <a:rPr dirty="0"/>
              <a:t>   Complete technical revision document, system workflow breakdown, viva preparation Q&amp;A, and embedded screenshots packaged in one PDF.</a:t>
            </a:r>
          </a:p>
          <a:p>
            <a:br>
              <a:rPr dirty="0"/>
            </a:br>
            <a:r>
              <a:rPr dirty="0"/>
              <a:t>Thank you! </a:t>
            </a:r>
            <a:r>
              <a:rPr dirty="0" err="1"/>
              <a:t>UniAssist</a:t>
            </a:r>
            <a:r>
              <a:rPr dirty="0"/>
              <a:t> AI is ready for academic deployment and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1671</Words>
  <Application>Microsoft Office PowerPoint</Application>
  <PresentationFormat>Widescreen</PresentationFormat>
  <Paragraphs>189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Abhay Sharma</cp:lastModifiedBy>
  <cp:revision>1</cp:revision>
  <dcterms:created xsi:type="dcterms:W3CDTF">2013-01-27T09:14:16Z</dcterms:created>
  <dcterms:modified xsi:type="dcterms:W3CDTF">2026-09-22T13:37:52Z</dcterms:modified>
  <cp:category/>
</cp:coreProperties>
</file>